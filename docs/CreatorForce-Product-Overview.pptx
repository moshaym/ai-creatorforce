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194560"/>
            <a:ext cx="7315200" cy="7315200"/>
          </a:xfrm>
          <a:prstGeom prst="ellipse">
            <a:avLst/>
          </a:prstGeom>
          <a:solidFill>
            <a:srgbClr val="25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377440" cy="384048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4CC9F0"/>
                </a:solidFill>
                <a:latin typeface="Segoe UI"/>
              </a:rPr>
              <a:t>PRODUCT + GTM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F6FA"/>
                </a:solidFill>
                <a:latin typeface="Segoe UI"/>
              </a:rPr>
              <a:t>AI CreatorForce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63B5C"/>
                </a:solidFill>
                <a:latin typeface="Segoe UI"/>
              </a:rPr>
              <a:t>The YouTube Content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9875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5"/>
                </a:solidFill>
                <a:latin typeface="Segoe UI"/>
              </a:rPr>
              <a:t>AI does the production work — research, scripts, editing, shorts, SEO.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5"/>
                </a:solidFill>
                <a:latin typeface="Segoe UI"/>
              </a:rPr>
              <a:t>Humans keep the judgment — every publish passes a compliance gate and a human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July 2026  ·  Platform status: feature-complete core, production-hardening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Creators drown in production work, not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63B5C"/>
                </a:solidFill>
                <a:latin typeface="Segoe UI"/>
              </a:rPr>
              <a:t>10–20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to produce one quality long-form video — research, script, edit, thumbnail, SEO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4CC9F0"/>
                </a:solidFill>
                <a:latin typeface="Segoe UI"/>
              </a:rPr>
              <a:t>3+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stitched together per video: an SEO tool, a clip tool, an editor, a scheduler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54C"/>
                </a:solidFill>
                <a:latin typeface="Segoe UI"/>
              </a:rPr>
              <a:t>1 strike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a monetization or copyright misstep can demonetize a channel overnight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373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51C98B"/>
                </a:solidFill>
                <a:latin typeface="Segoe UI"/>
              </a:rPr>
              <a:t>70%+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8346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of long-form value is never repurposed into Shorts, posts, or newsletters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5F6FA"/>
                </a:solidFill>
                <a:latin typeface="Segoe UI"/>
              </a:rPr>
              <a:t>The gap in the market: existing tools optimize one step (clips, SEO, editing). Nobody owns the whole workflow with monetization safety built in.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5F6FA"/>
                </a:solidFill>
                <a:latin typeface="Segoe UI"/>
              </a:rPr>
              <a:t>CreatorForce is the workflow — idea to published, compliance-gated at the core, human-approved at the 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SOFTWARE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One platform, four surfaces, one AI agent workforce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858000" cy="1051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63B5C"/>
                </a:solidFill>
                <a:latin typeface="Segoe UI"/>
              </a:rPr>
              <a:t>Web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09928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A3B5"/>
                </a:solidFill>
                <a:latin typeface="Segoe UI"/>
              </a:rPr>
              <a:t>Next.js dashboard — projects, Shorts Studio, video editor, approvals, analytics, wallet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6858000" cy="1051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CC9F0"/>
                </a:solidFill>
                <a:latin typeface="Segoe UI"/>
              </a:rPr>
              <a:t>AI Agent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98648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A3B5"/>
                </a:solidFill>
                <a:latin typeface="Segoe UI"/>
              </a:rPr>
              <a:t>15+ specialized agents (research, script, fact-check, compliance, SEO, media) orchestrated by a supervisor over a job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6858000" cy="1051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873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C54C"/>
                </a:solidFill>
                <a:latin typeface="Segoe UI"/>
              </a:rPr>
              <a:t>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087368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A3B5"/>
                </a:solidFill>
                <a:latin typeface="Segoe UI"/>
              </a:rPr>
              <a:t>Per-channel autopilot: auto-import, auto-analyze, paced auto-publish of pre-approved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6858000" cy="1051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760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1C98B"/>
                </a:solidFill>
                <a:latin typeface="Segoe UI"/>
              </a:rPr>
              <a:t>Developer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276088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A3B5"/>
                </a:solidFill>
                <a:latin typeface="Segoe UI"/>
              </a:rPr>
              <a:t>Scoped API keys, webhooks, rate-limited public endpoints for programmatic pipelines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600200"/>
            <a:ext cx="3931920" cy="45720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1488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63B5C"/>
                </a:solidFill>
                <a:latin typeface="Segoe UI"/>
              </a:rPr>
              <a:t>▸ </a:t>
            </a:r>
            <a:r>
              <a:rPr sz="1300" b="1">
                <a:solidFill>
                  <a:srgbClr val="F5F6FA"/>
                </a:solidFill>
                <a:latin typeface="Segoe UI"/>
              </a:rPr>
              <a:t>In</a:t>
            </a:r>
            <a:r>
              <a:rPr sz="1300">
                <a:solidFill>
                  <a:srgbClr val="9AA3B5"/>
                </a:solidFill>
                <a:latin typeface="Segoe UI"/>
              </a:rPr>
              <a:t> — idea → research → script → media → shorts → SEO → publish → analyze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63B5C"/>
                </a:solidFill>
                <a:latin typeface="Segoe UI"/>
              </a:rPr>
              <a:t>▸ </a:t>
            </a:r>
            <a:r>
              <a:rPr sz="1300" b="1">
                <a:solidFill>
                  <a:srgbClr val="F5F6FA"/>
                </a:solidFill>
                <a:latin typeface="Segoe UI"/>
              </a:rPr>
              <a:t>In</a:t>
            </a:r>
            <a:r>
              <a:rPr sz="1300">
                <a:solidFill>
                  <a:srgbClr val="9AA3B5"/>
                </a:solidFill>
                <a:latin typeface="Segoe UI"/>
              </a:rPr>
              <a:t> — teams/orgs, budgets, credits, referrals, marketplace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63B5C"/>
                </a:solidFill>
                <a:latin typeface="Segoe UI"/>
              </a:rPr>
              <a:t>▸ </a:t>
            </a:r>
            <a:r>
              <a:rPr sz="1300" b="1">
                <a:solidFill>
                  <a:srgbClr val="F5F6FA"/>
                </a:solidFill>
                <a:latin typeface="Segoe UI"/>
              </a:rPr>
              <a:t>Out</a:t>
            </a:r>
            <a:r>
              <a:rPr sz="1300">
                <a:solidFill>
                  <a:srgbClr val="9AA3B5"/>
                </a:solidFill>
                <a:latin typeface="Segoe UI"/>
              </a:rPr>
              <a:t> — spam or content-farm tooling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63B5C"/>
                </a:solidFill>
                <a:latin typeface="Segoe UI"/>
              </a:rPr>
              <a:t>▸ </a:t>
            </a:r>
            <a:r>
              <a:rPr sz="1300" b="1">
                <a:solidFill>
                  <a:srgbClr val="F5F6FA"/>
                </a:solidFill>
                <a:latin typeface="Segoe UI"/>
              </a:rPr>
              <a:t>Out</a:t>
            </a:r>
            <a:r>
              <a:rPr sz="1300">
                <a:solidFill>
                  <a:srgbClr val="9AA3B5"/>
                </a:solidFill>
                <a:latin typeface="Segoe UI"/>
              </a:rPr>
              <a:t> — publishing without human approval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63B5C"/>
                </a:solidFill>
                <a:latin typeface="Segoe UI"/>
              </a:rPr>
              <a:t>▸ </a:t>
            </a:r>
            <a:r>
              <a:rPr sz="1300" b="1">
                <a:solidFill>
                  <a:srgbClr val="F5F6FA"/>
                </a:solidFill>
                <a:latin typeface="Segoe UI"/>
              </a:rPr>
              <a:t>Out</a:t>
            </a:r>
            <a:r>
              <a:rPr sz="1300">
                <a:solidFill>
                  <a:srgbClr val="9AA3B5"/>
                </a:solidFill>
                <a:latin typeface="Segoe UI"/>
              </a:rPr>
              <a:t> — copyright / disclosure evasion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48640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AA3B5"/>
                </a:solidFill>
                <a:latin typeface="Segoe UI"/>
              </a:rPr>
              <a:t>Non-goals are enforced in code, not policy docs — no publish path bypasses the compliance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CORE FLOW ·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Long-form pipeline: idea in, upload-ready video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sources +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trends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31620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40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8216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216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voice-matched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draft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39212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Fact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claims traced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to sources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46804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63B5C"/>
                </a:solidFill>
                <a:latin typeface="Segoe UI"/>
              </a:rP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HARD GATE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blocks pipeline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54396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SEO /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title, tags,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description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61988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22008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Media 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voice, images,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music, video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69580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CC9F0"/>
                </a:solidFill>
                <a:latin typeface="Segoe UI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ffmpeg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timeline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77172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37192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C54C"/>
                </a:solidFill>
                <a:latin typeface="Segoe UI"/>
              </a:rPr>
              <a:t>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HUMAN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DECIDES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684764" y="2468880"/>
            <a:ext cx="146304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844784" y="1920240"/>
            <a:ext cx="1133856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51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81360" y="2029968"/>
            <a:ext cx="1060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51C98B"/>
                </a:solidFill>
                <a:latin typeface="Segoe UI"/>
              </a:rPr>
              <a:t>Publish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2487168"/>
            <a:ext cx="10607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YouTube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AA3B5"/>
                </a:solidFill>
                <a:latin typeface="Segoe UI"/>
              </a:rPr>
              <a:t>Data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F63B5C"/>
                </a:solidFill>
                <a:latin typeface="Segoe UI"/>
              </a:rPr>
              <a:t>▸ </a:t>
            </a:r>
            <a:r>
              <a:rPr sz="1450" b="1">
                <a:solidFill>
                  <a:srgbClr val="F5F6FA"/>
                </a:solidFill>
                <a:latin typeface="Segoe UI"/>
              </a:rPr>
              <a:t>Async by design</a:t>
            </a:r>
            <a:r>
              <a:rPr sz="1450">
                <a:solidFill>
                  <a:srgbClr val="9AA3B5"/>
                </a:solidFill>
                <a:latin typeface="Segoe UI"/>
              </a:rPr>
              <a:t> — every stage is a BullMQ job with live progress over websockets; stages self-skip when output already exists, so re-runs only fill gaps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F63B5C"/>
                </a:solidFill>
                <a:latin typeface="Segoe UI"/>
              </a:rPr>
              <a:t>▸ </a:t>
            </a:r>
            <a:r>
              <a:rPr sz="1450" b="1">
                <a:solidFill>
                  <a:srgbClr val="F5F6FA"/>
                </a:solidFill>
                <a:latin typeface="Segoe UI"/>
              </a:rPr>
              <a:t>Two independent gates</a:t>
            </a:r>
            <a:r>
              <a:rPr sz="1450">
                <a:solidFill>
                  <a:srgbClr val="9AA3B5"/>
                </a:solidFill>
                <a:latin typeface="Segoe UI"/>
              </a:rPr>
              <a:t> — the AI compliance audit blocks the pipeline; a human approval blocks the upload. Neither can be bypassed by any code path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F63B5C"/>
                </a:solidFill>
                <a:latin typeface="Segoe UI"/>
              </a:rPr>
              <a:t>▸ </a:t>
            </a:r>
            <a:r>
              <a:rPr sz="1450" b="1">
                <a:solidFill>
                  <a:srgbClr val="F5F6FA"/>
                </a:solidFill>
                <a:latin typeface="Segoe UI"/>
              </a:rPr>
              <a:t>Validated at every boundary</a:t>
            </a:r>
            <a:r>
              <a:rPr sz="1450">
                <a:solidFill>
                  <a:srgbClr val="9AA3B5"/>
                </a:solidFill>
                <a:latin typeface="Segoe UI"/>
              </a:rPr>
              <a:t> — each agent's output is parsed against a Zod schema — malformed AI responses retry automatically (observed self-correcting live)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F63B5C"/>
                </a:solidFill>
                <a:latin typeface="Segoe UI"/>
              </a:rPr>
              <a:t>▸ </a:t>
            </a:r>
            <a:r>
              <a:rPr sz="1450" b="1">
                <a:solidFill>
                  <a:srgbClr val="F5F6FA"/>
                </a:solidFill>
                <a:latin typeface="Segoe UI"/>
              </a:rPr>
              <a:t>Metered</a:t>
            </a:r>
            <a:r>
              <a:rPr sz="1450">
                <a:solidFill>
                  <a:srgbClr val="9AA3B5"/>
                </a:solidFill>
                <a:latin typeface="Segoe UI"/>
              </a:rPr>
              <a:t> — every AI call is token-accounted and billed to the wallet in credits, with per-user/org budget hard caps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CORE FLOW · REPURPOSING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Shorts Studio: one long-form video becomes a content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yt-dlp source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+ captions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38528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84832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transcript, scenes,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topics, chapters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11880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8184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C54C"/>
                </a:solidFill>
                <a:latin typeface="Segoe UI"/>
              </a:rPr>
              <a:t>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AI-scored viral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moments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85232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31536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Clip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9:16 / 1:1 timeline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per platform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58584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04888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Track + Reframe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face + motion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tracked crop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31936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78240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captions burned,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GPU-aware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05288" y="2313432"/>
            <a:ext cx="128016" cy="256032"/>
          </a:xfrm>
          <a:prstGeom prst="rightArrow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51592" y="1783080"/>
            <a:ext cx="1508760" cy="13258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51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97312" y="189280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1C98B"/>
                </a:solidFill>
                <a:latin typeface="Segoe UI"/>
              </a:rPr>
              <a:t>Approve + Publish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2386584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human gate →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YouTube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52044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03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SUBJECT-TRACKED REFRAMING (new)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1148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>
                <a:solidFill>
                  <a:srgbClr val="F5F6FA"/>
                </a:solidFill>
                <a:latin typeface="Segoe UI"/>
              </a:rPr>
              <a:t>On-device face detection (pico cascade) finds the speaker in every sampled frame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>
                <a:solidFill>
                  <a:srgbClr val="F5F6FA"/>
                </a:solidFill>
                <a:latin typeface="Segoe UI"/>
              </a:rPr>
              <a:t>Movement-centroid fallback tracks robots, demos, screen action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>
                <a:solidFill>
                  <a:srgbClr val="F5F6FA"/>
                </a:solidFill>
                <a:latin typeface="Segoe UI"/>
              </a:rPr>
              <a:t>Verified live: 88/88 frames face-locked on a presenter video; crop pans with the subject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520440"/>
            <a:ext cx="5349240" cy="260604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7033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BEYOND SHORTS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14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Social factory</a:t>
            </a:r>
            <a:r>
              <a:rPr sz="1250">
                <a:solidFill>
                  <a:srgbClr val="9AA3B5"/>
                </a:solidFill>
                <a:latin typeface="Segoe UI"/>
              </a:rPr>
              <a:t> — quote cards, carousels, blog posts, newsletters from the same transcript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Chapter sync</a:t>
            </a:r>
            <a:r>
              <a:rPr sz="1250">
                <a:solidFill>
                  <a:srgbClr val="9AA3B5"/>
                </a:solidFill>
                <a:latin typeface="Segoe UI"/>
              </a:rPr>
              <a:t> — AI-detected chapters pushed to the YouTube description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Semantic search</a:t>
            </a:r>
            <a:r>
              <a:rPr sz="1250">
                <a:solidFill>
                  <a:srgbClr val="9AA3B5"/>
                </a:solidFill>
                <a:latin typeface="Segoe UI"/>
              </a:rPr>
              <a:t> — ask the library a question, jump to the exact clip moment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FEATURES &amp;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Feature map by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F6FA"/>
                </a:solidFill>
                <a:latin typeface="Segoe UI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Full long-form agent pipeline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Shorts Studio (6 clip formats)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Standalone multi-track video editor — filters, transitions, keyframes, text, audio mixing, export presets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AI thumbnails + quote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600200"/>
            <a:ext cx="2724912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181051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GROW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331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SEO &amp; metadata engine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Channel analytics + BI module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Trend &amp; topic research agents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AI copilot with editing commands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Semantic library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00200"/>
            <a:ext cx="2724912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9672" y="181051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FFC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FFC54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Per-channel automation with daily quotas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FC54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Approvals inbox (human gate)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FC54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Orgs &amp; teams, shared wallets, budget caps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FFC54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Referrals, trials, marketplace offers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600200"/>
            <a:ext cx="2724912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90888" y="1810512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51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EXTEND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2331720"/>
            <a:ext cx="23957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Developer portal: scoped API keys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Webhooks with signed deliveries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Public REST API (rate-limited per key)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n8n workflow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TOOLS &amp;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The agent workforce and the tools it drives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AI AGENTS (per-role specialists)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Supervisor</a:t>
            </a:r>
            <a:r>
              <a:rPr sz="1250">
                <a:solidFill>
                  <a:srgbClr val="9AA3B5"/>
                </a:solidFill>
                <a:latin typeface="Segoe UI"/>
              </a:rPr>
              <a:t> — orchestrates every pipeline; agents stay stateless + idempotent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Research / FactCheck</a:t>
            </a:r>
            <a:r>
              <a:rPr sz="1250">
                <a:solidFill>
                  <a:srgbClr val="9AA3B5"/>
                </a:solidFill>
                <a:latin typeface="Segoe UI"/>
              </a:rPr>
              <a:t> — no fabricated facts — claims trace to captured sources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Compliance</a:t>
            </a:r>
            <a:r>
              <a:rPr sz="1250">
                <a:solidFill>
                  <a:srgbClr val="9AA3B5"/>
                </a:solidFill>
                <a:latin typeface="Segoe UI"/>
              </a:rPr>
              <a:t> — 9-category audit (copyright, misinformation, advertiser-friendliness…) with BLOCK-severity flags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Script / SEO / Metadata</a:t>
            </a:r>
            <a:r>
              <a:rPr sz="1250">
                <a:solidFill>
                  <a:srgbClr val="9AA3B5"/>
                </a:solidFill>
                <a:latin typeface="Segoe UI"/>
              </a:rPr>
              <a:t> — channel voice profiles + brand kits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Voice / Image / Music / Video / Subtitle</a:t>
            </a:r>
            <a:r>
              <a:rPr sz="1250">
                <a:solidFill>
                  <a:srgbClr val="9AA3B5"/>
                </a:solidFill>
                <a:latin typeface="Segoe UI"/>
              </a:rPr>
              <a:t> — media generation with provenance metadata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EditPlan / Highlight / Chapter</a:t>
            </a:r>
            <a:r>
              <a:rPr sz="1250">
                <a:solidFill>
                  <a:srgbClr val="9AA3B5"/>
                </a:solidFill>
                <a:latin typeface="Segoe UI"/>
              </a:rPr>
              <a:t> — turns analysis into timelines and clips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Multi-provider AI client</a:t>
            </a:r>
            <a:r>
              <a:rPr sz="1250">
                <a:solidFill>
                  <a:srgbClr val="9AA3B5"/>
                </a:solidFill>
                <a:latin typeface="Segoe UI"/>
              </a:rPr>
              <a:t> — Claude (primary) + GPT + Gemini with health-scored failover, retries, response caching, cost accounting per call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ffmpeg</a:t>
            </a:r>
            <a:r>
              <a:rPr sz="1250">
                <a:solidFill>
                  <a:srgbClr val="9AA3B5"/>
                </a:solidFill>
                <a:latin typeface="Segoe UI"/>
              </a:rPr>
              <a:t> — renders, reframes, caption burn-in — GPU (NVENC) aware with CPU fallback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yt-dlp</a:t>
            </a:r>
            <a:r>
              <a:rPr sz="1250">
                <a:solidFill>
                  <a:srgbClr val="9AA3B5"/>
                </a:solidFill>
                <a:latin typeface="Segoe UI"/>
              </a:rPr>
              <a:t> — source acquisition + auto-captions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pico face detection</a:t>
            </a:r>
            <a:r>
              <a:rPr sz="1250">
                <a:solidFill>
                  <a:srgbClr val="9AA3B5"/>
                </a:solidFill>
                <a:latin typeface="Segoe UI"/>
              </a:rPr>
              <a:t> — on-device, zero API cost, MIT-licensed cascade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YouTube Data API</a:t>
            </a:r>
            <a:r>
              <a:rPr sz="1250">
                <a:solidFill>
                  <a:srgbClr val="9AA3B5"/>
                </a:solidFill>
                <a:latin typeface="Segoe UI"/>
              </a:rPr>
              <a:t> — library browse, metadata, chapters, uploads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Stripe</a:t>
            </a:r>
            <a:r>
              <a:rPr sz="1250">
                <a:solidFill>
                  <a:srgbClr val="9AA3B5"/>
                </a:solidFill>
                <a:latin typeface="Segoe UI"/>
              </a:rPr>
              <a:t> — subscriptions + credit recharges, idempotent webhook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ARCHITECTURE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Production-grade engineering 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Segoe UI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Stack</a:t>
            </a:r>
            <a:r>
              <a:rPr sz="1250">
                <a:solidFill>
                  <a:srgbClr val="9AA3B5"/>
                </a:solidFill>
                <a:latin typeface="Segoe UI"/>
              </a:rPr>
              <a:t> — TypeScript monorepo — NestJS API (40+ modules), Next.js web, Postgres, Redis, BullMQ job queue, socket.io live progress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Scale-ready</a:t>
            </a:r>
            <a:r>
              <a:rPr sz="1250">
                <a:solidFill>
                  <a:srgbClr val="9AA3B5"/>
                </a:solidFill>
                <a:latin typeface="Segoe UI"/>
              </a:rPr>
              <a:t> — Kubernetes architecture shipped: API autoscales 2→8 pods, Redis-shared rate limits and caches, migrations per rollout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CI/CD</a:t>
            </a:r>
            <a:r>
              <a:rPr sz="1250">
                <a:solidFill>
                  <a:srgbClr val="9AA3B5"/>
                </a:solidFill>
                <a:latin typeface="Segoe UI"/>
              </a:rPr>
              <a:t> — lint, typecheck, 650+ unit tests, SAST (Semgrep), DAST (OWASP ZAP), 3-browser E2E, dependency audit — every push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63B5C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Observability</a:t>
            </a:r>
            <a:r>
              <a:rPr sz="1250">
                <a:solidFill>
                  <a:srgbClr val="9AA3B5"/>
                </a:solidFill>
                <a:latin typeface="Segoe UI"/>
              </a:rPr>
              <a:t> — Prometheus metrics, Grafana dashboards, Sentry, structured logs with correlation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51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1C98B"/>
                </a:solidFill>
                <a:latin typeface="Segoe UI"/>
              </a:rPr>
              <a:t>SECURITY &amp; SAFETY (verified live)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51C98B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Auth</a:t>
            </a:r>
            <a:r>
              <a:rPr sz="1250">
                <a:solidFill>
                  <a:srgbClr val="9AA3B5"/>
                </a:solidFill>
                <a:latin typeface="Segoe UI"/>
              </a:rPr>
              <a:t> — JWT + rotating refresh tokens — 10-point attack test passed (tampering, alg:none, replay, logout)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1C98B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Rate limiting</a:t>
            </a:r>
            <a:r>
              <a:rPr sz="1250">
                <a:solidFill>
                  <a:srgbClr val="9AA3B5"/>
                </a:solidFill>
                <a:latin typeface="Segoe UI"/>
              </a:rPr>
              <a:t> — Redis-backed on auth + API keys, multi-instance safe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1C98B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Secrets</a:t>
            </a:r>
            <a:r>
              <a:rPr sz="1250">
                <a:solidFill>
                  <a:srgbClr val="9AA3B5"/>
                </a:solidFill>
                <a:latin typeface="Segoe UI"/>
              </a:rPr>
              <a:t> — OAuth tokens AES-256-GCM encrypted at rest; boot refuses weak keys in production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1C98B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Billing integrity</a:t>
            </a:r>
            <a:r>
              <a:rPr sz="1250">
                <a:solidFill>
                  <a:srgbClr val="9AA3B5"/>
                </a:solidFill>
                <a:latin typeface="Segoe UI"/>
              </a:rPr>
              <a:t> — webhook settlement idempotent at event AND payment level — replay-tested, no double-credit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1C98B"/>
                </a:solidFill>
                <a:latin typeface="Segoe UI"/>
              </a:rPr>
              <a:t>▸ </a:t>
            </a:r>
            <a:r>
              <a:rPr sz="1250" b="1">
                <a:solidFill>
                  <a:srgbClr val="F5F6FA"/>
                </a:solidFill>
                <a:latin typeface="Segoe UI"/>
              </a:rPr>
              <a:t>Compliance gate</a:t>
            </a:r>
            <a:r>
              <a:rPr sz="1250">
                <a:solidFill>
                  <a:srgbClr val="9AA3B5"/>
                </a:solidFill>
                <a:latin typeface="Segoe UI"/>
              </a:rPr>
              <a:t> — cached verdicts re-checked on every enforce; cache can never soften the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Subscriptions for access, credits for consumption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724912" cy="20116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9A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9AA3B5"/>
                </a:solidFill>
                <a:latin typeface="Segoe UI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Trial credits on signup, full pipeline access, watermark-level quotas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645920"/>
            <a:ext cx="2724912" cy="20116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8288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CC9F0"/>
                </a:solidFill>
                <a:latin typeface="Segoe U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28600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Solo creators: monthly credit quota, 1–2 channels, automation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45920"/>
            <a:ext cx="2724912" cy="20116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63B5C"/>
                </a:solidFill>
                <a:latin typeface="Segoe UI"/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Full-time creators: higher quotas, all formats, priority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645920"/>
            <a:ext cx="2724912" cy="201168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3456" y="18288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C54C"/>
                </a:solidFill>
                <a:latin typeface="Segoe UI"/>
              </a:rP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228600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Teams &amp; orgs: shared wallets, budget hard-caps per client, seats +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63B5C"/>
                </a:solidFill>
                <a:latin typeface="Segoe UI"/>
              </a:rPr>
              <a:t>▸ </a:t>
            </a:r>
            <a:r>
              <a:rPr sz="1400" b="1">
                <a:solidFill>
                  <a:srgbClr val="F5F6FA"/>
                </a:solidFill>
                <a:latin typeface="Segoe UI"/>
              </a:rPr>
              <a:t>Credits meter real cost</a:t>
            </a:r>
            <a:r>
              <a:rPr sz="1400">
                <a:solidFill>
                  <a:srgbClr val="9AA3B5"/>
                </a:solidFill>
                <a:latin typeface="Segoe UI"/>
              </a:rPr>
              <a:t> — every AI/video/music job debits the wallet (default 100 credits ≈ $1); margins hold because provider costs are accounted per call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63B5C"/>
                </a:solidFill>
                <a:latin typeface="Segoe UI"/>
              </a:rPr>
              <a:t>▸ </a:t>
            </a:r>
            <a:r>
              <a:rPr sz="1400" b="1">
                <a:solidFill>
                  <a:srgbClr val="F5F6FA"/>
                </a:solidFill>
                <a:latin typeface="Segoe UI"/>
              </a:rPr>
              <a:t>Recharge on demand</a:t>
            </a:r>
            <a:r>
              <a:rPr sz="1400">
                <a:solidFill>
                  <a:srgbClr val="9AA3B5"/>
                </a:solidFill>
                <a:latin typeface="Segoe UI"/>
              </a:rPr>
              <a:t> — Stripe checkout for credit top-ups and marketplace packs — settlement flow fully tested end to end, replay-safe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63B5C"/>
                </a:solidFill>
                <a:latin typeface="Segoe UI"/>
              </a:rPr>
              <a:t>▸ </a:t>
            </a:r>
            <a:r>
              <a:rPr sz="1400" b="1">
                <a:solidFill>
                  <a:srgbClr val="F5F6FA"/>
                </a:solidFill>
                <a:latin typeface="Segoe UI"/>
              </a:rPr>
              <a:t>Expansion built in</a:t>
            </a:r>
            <a:r>
              <a:rPr sz="1400">
                <a:solidFill>
                  <a:srgbClr val="9AA3B5"/>
                </a:solidFill>
                <a:latin typeface="Segoe UI"/>
              </a:rPr>
              <a:t> — referral credits, trial-to-paid conversion engine, first-recharge rewards, org budget periods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63B5C"/>
                </a:solidFill>
                <a:latin typeface="Segoe UI"/>
              </a:rPr>
              <a:t>▸ </a:t>
            </a:r>
            <a:r>
              <a:rPr sz="1400" b="1">
                <a:solidFill>
                  <a:srgbClr val="F5F6FA"/>
                </a:solidFill>
                <a:latin typeface="Segoe UI"/>
              </a:rPr>
              <a:t>Anti-abuse</a:t>
            </a:r>
            <a:r>
              <a:rPr sz="1400">
                <a:solidFill>
                  <a:srgbClr val="9AA3B5"/>
                </a:solidFill>
                <a:latin typeface="Segoe UI"/>
              </a:rPr>
              <a:t> — device-fingerprint trial scoring, recharge freeze on dispute, fraud-hold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MARKET STRATEGY ·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Clear target users, in order of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63B5C"/>
                </a:solidFill>
                <a:latin typeface="Segoe UI"/>
              </a:rPr>
              <a:t>1 · The Serious Solo Creator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5F6FA"/>
                </a:solidFill>
                <a:latin typeface="Segoe UI"/>
              </a:rPr>
              <a:t>10K–500K subs, monetized, 1–2 uploads/week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Pain: production time caps output; repurposing never happens.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Buys: PRO. Hook: Shorts Studio + automation.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64592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8288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4CC9F0"/>
                </a:solidFill>
                <a:latin typeface="Segoe UI"/>
              </a:rPr>
              <a:t>2 · The Expert-on-Camera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514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5F6FA"/>
                </a:solidFill>
                <a:latin typeface="Segoe UI"/>
              </a:rPr>
              <a:t>coaches, educators, developers, finance/legal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15468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Pain: knows the subject, hates the toolchain; terrified of compliance strikes.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Buys: STARTER→PRO. Hook: fact-checked scripts + face-tracked shorts.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2" y="164592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2" y="18288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C54C"/>
                </a:solidFill>
                <a:latin typeface="Segoe UI"/>
              </a:rPr>
              <a:t>3 · The Creator Agency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2" y="2514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5F6FA"/>
                </a:solidFill>
                <a:latin typeface="Segoe UI"/>
              </a:rPr>
              <a:t>manages 5–50 channels for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2" y="315468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Pain: per-client budgets, approvals, and consistency at scale.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3B5"/>
                </a:solidFill>
                <a:latin typeface="Segoe UI"/>
              </a:rPr>
              <a:t>Buys: AGENCY. Hook: orgs, shared wallets, budget hard-caps, human approval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3B5"/>
                </a:solidFill>
                <a:latin typeface="Segoe UI"/>
              </a:rPr>
              <a:t>Explicitly NOT targeting: content farms, faceless-spam channels, engagement-bait operations — excluded by product design, not just positioning.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MARKET STRATEGY ·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5F6FA"/>
                </a:solidFill>
                <a:latin typeface="Segoe UI"/>
              </a:rPr>
              <a:t>Publish 5× more content from the same ideas — without risking the channel that feeds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C9F0"/>
                </a:solidFill>
                <a:latin typeface="Segoe UI"/>
              </a:rPr>
              <a:t>For the 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383280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One video's effort becomes a week of content: the long-form, 3–5 tracked shorts, quote cards, a blog post, a newsletter — all from one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93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C9F0"/>
                </a:solidFill>
                <a:latin typeface="Segoe UI"/>
              </a:rPr>
              <a:t>For the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279392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Monetization-safe by construction: fact-checked claims, a 9-category compliance audit that can block, and a human finger on every publish button.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7550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C9F0"/>
                </a:solidFill>
                <a:latin typeface="Segoe UI"/>
              </a:rPr>
              <a:t>For the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175504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Costs are metered, budgeted, and hard-capped in credits — no surprise AI bills; agencies allocate per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MARKET STRATEGY ·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Positioning: own the full workflow +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88819"/>
                <a:gridCol w="1988819"/>
                <a:gridCol w="1988819"/>
                <a:gridCol w="1988819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6FA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A"/>
                          </a:solidFill>
                          <a:latin typeface="Segoe UI"/>
                        </a:rPr>
                        <a:t>Opus Clip / 2short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A"/>
                          </a:solidFill>
                          <a:latin typeface="Segoe UI"/>
                        </a:rPr>
                        <a:t>vidIQ / TubeBuddy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A"/>
                          </a:solidFill>
                          <a:latin typeface="Segoe UI"/>
                        </a:rPr>
                        <a:t>Descript / CapCut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A"/>
                          </a:solidFill>
                          <a:latin typeface="Segoe UI"/>
                        </a:rPr>
                        <a:t>CreatorForce</a:t>
                      </a:r>
                    </a:p>
                  </a:txBody>
                  <a:tcPr>
                    <a:solidFill>
                      <a:srgbClr val="12141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Clips &amp; repurposing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CC9F0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SEO &amp; channel growth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CC9F0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Full editing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CC9F0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Idea→publish pipeline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Compliance / fact-check gate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AA3B5"/>
                          </a:solidFill>
                          <a:latin typeface="Segoe UI"/>
                        </a:rPr>
                        <a:t>Team budgets &amp; approvals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B5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>
                    <a:solidFill>
                      <a:srgbClr val="1C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1C98B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>
                    <a:solidFill>
                      <a:srgbClr val="301B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F5F6FA"/>
                </a:solidFill>
                <a:latin typeface="Segoe UI"/>
              </a:rPr>
              <a:t>Positioning statement:  For serious YouTube creators and the agencies behind them, CreatorForce is the content operating system that turns one idea into a week of published, monetization-safe content — unlike point tools that optimize a single step and leave the risk and the stitching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MARKET STRATEGY · WHAT WE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Messaging 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C54C"/>
                </a:solidFill>
                <a:latin typeface="Segoe UI"/>
              </a:rPr>
              <a:t>“Your channel, on autopilot. Your judgment, in charge.”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971800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F6FA"/>
                </a:solidFill>
                <a:latin typeface="Segoe U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5F6FA"/>
                </a:solidFill>
                <a:latin typeface="Segoe UI"/>
              </a:rPr>
              <a:t>“One video in. A content week out.”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Pipeline demo: idea → rendered video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Shorts Studio before/after timelines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F63B5C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Automation quotas doing the boring 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278892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2971800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51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4747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5F6FA"/>
                </a:solidFill>
                <a:latin typeface="Segoe UI"/>
              </a:rPr>
              <a:t>“AI that won't get you demonetized.”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Compliance audit screenshots w/ BLOCK flags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Fact-check with source tracing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51C98B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Human approval inbox — nothing ships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2" y="2788920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21622" y="2971800"/>
            <a:ext cx="1188720" cy="365760"/>
          </a:xfrm>
          <a:prstGeom prst="roundRect">
            <a:avLst>
              <a:gd name="adj" fmla="val 6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CRAFT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2" y="34747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5F6FA"/>
                </a:solidFill>
                <a:latin typeface="Segoe UI"/>
              </a:rPr>
              <a:t>“Shorts that follow the story — literally.”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2" y="4206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Face-tracked reframing demos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Multi-track editor + brand kits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4CC9F0"/>
                </a:solidFill>
                <a:latin typeface="Segoe UI"/>
              </a:rPr>
              <a:t>▸ </a:t>
            </a:r>
            <a:r>
              <a:rPr sz="1150">
                <a:solidFill>
                  <a:srgbClr val="F5F6FA"/>
                </a:solidFill>
                <a:latin typeface="Segoe UI"/>
              </a:rPr>
              <a:t>Channel-voice scripts, not generic AI slop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MARKET STRATEGY ·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Go-to-market: three phases, each funds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6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63B5C"/>
                </a:solidFill>
                <a:latin typeface="Segoe UI"/>
              </a:rPr>
              <a:t>PHASE 1 · Prove (0–3 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9344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F63B5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Closed beta: 50–100 hand-picked creators in 2 niches (dev/education, faith &amp; community — church pack already built)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63B5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White-glove onboarding; weekly ship cadence from feedback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63B5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Success gate: 30% weekly active, 5 documented “content week” case studies, &lt;5% compliance-gate false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3580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C9F0"/>
                </a:solidFill>
                <a:latin typeface="Segoe UI"/>
              </a:rPr>
              <a:t>PHASE 2 · Product-led growth (3–9 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90672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Self-serve FREE→STARTER with trial credits; first-recharge reward live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Creators ARE the channel: case-study videos, before/after shorts, referral credits (built in)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Content moat: SEO plays on “YouTube compliance”, “shorts face tracking”, “AI video pipeline”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Success gate: CAC &lt; 1 month of PRO; trial→paid ≥ 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17136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FFC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902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54C"/>
                </a:solidFill>
                <a:latin typeface="Segoe UI"/>
              </a:rPr>
              <a:t>PHASE 3 · Agencies &amp; platform (9–18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57200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FFC54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AGENCY tier outbound: agencies discovered via multi-channel usage patterns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C54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Developer API GA + marketplace packs; partner white-labeling (roadmap Phase 7)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C54C"/>
                </a:solidFill>
                <a:latin typeface="Segoe UI"/>
              </a:rPr>
              <a:t>▸ </a:t>
            </a:r>
            <a:r>
              <a:rPr sz="1050">
                <a:solidFill>
                  <a:srgbClr val="F5F6FA"/>
                </a:solidFill>
                <a:latin typeface="Segoe UI"/>
              </a:rPr>
              <a:t>Success gate: 20% of MRR from orgs; net revenue retention &gt; 110%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1C98B"/>
                </a:solidFill>
                <a:latin typeface="Segoe UI"/>
              </a:rPr>
              <a:t>Credibility check: every growth mechanism named above (referrals, trials, rewards, orgs, API keys) is already built and tested — GTM is activation, not construction.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63B5C"/>
                </a:solidFill>
                <a:latin typeface="Segoe UI"/>
              </a:rPr>
              <a:t>WHERE IT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6FA"/>
                </a:solidFill>
                <a:latin typeface="Segoe UI"/>
              </a:rPr>
              <a:t>Roadmap: phases 4–7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280160" cy="38100"/>
          </a:xfrm>
          <a:prstGeom prst="rect">
            <a:avLst/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F6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5F6FA"/>
                </a:solidFill>
                <a:latin typeface="Segoe UI"/>
              </a:rPr>
              <a:t>NOW · Phase 4–5 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47088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Cloud storage (R2) · external video/music providers (Veo, Runway, Suno…) · render→publish hand-off · staging env · k6/ZAP go-live runbook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NEXT · Phase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172968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AI autonomy: copilot orchestrating full workflows · cross-channel intelligence · auto content calendars · real-time 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FFC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12141C"/>
                </a:solidFill>
                <a:latin typeface="Segoe UI"/>
              </a:rPr>
              <a:t>LATER · Phase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498848"/>
            <a:ext cx="8412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3B5"/>
                </a:solidFill>
                <a:latin typeface="Segoe UI"/>
              </a:rPr>
              <a:t>Platform: agency white-labeling · more AI providers (DeepSeek, Grok, Mistral…) · i18n · public developer API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1C1F2B"/>
          </a:solidFill>
          <a:ln w="12700">
            <a:solidFill>
              <a:srgbClr val="51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2414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1C98B"/>
                </a:solidFill>
                <a:latin typeface="Segoe UI"/>
              </a:rPr>
              <a:t>Status today: core platform, Shorts Studio, editor, automation, billing and K8s architecture are built, tested (652 unit tests, CI green) and live-verified end to 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AI CreatorForce — Product &amp; Market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AA3B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200400"/>
            <a:ext cx="7315200" cy="7315200"/>
          </a:xfrm>
          <a:prstGeom prst="ellipse">
            <a:avLst/>
          </a:prstGeom>
          <a:solidFill>
            <a:srgbClr val="25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5F6FA"/>
                </a:solidFill>
                <a:latin typeface="Segoe UI"/>
              </a:rPr>
              <a:t>AI CreatorForce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63B5C"/>
                </a:solidFill>
                <a:latin typeface="Segoe UI"/>
              </a:rPr>
              <a:t>The workflow is the product. The trust is the moat.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63B5C"/>
                </a:solidFill>
                <a:latin typeface="Segoe UI"/>
              </a:rPr>
              <a:t>▸ </a:t>
            </a:r>
            <a:r>
              <a:rPr sz="1600">
                <a:solidFill>
                  <a:srgbClr val="F5F6FA"/>
                </a:solidFill>
                <a:latin typeface="Segoe UI"/>
              </a:rPr>
              <a:t>Software: a full YouTube content OS — agents, studio, editor, automation, API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63B5C"/>
                </a:solidFill>
                <a:latin typeface="Segoe UI"/>
              </a:rPr>
              <a:t>▸ </a:t>
            </a:r>
            <a:r>
              <a:rPr sz="1600">
                <a:solidFill>
                  <a:srgbClr val="F5F6FA"/>
                </a:solidFill>
                <a:latin typeface="Segoe UI"/>
              </a:rPr>
              <a:t>Market: serious creators and agencies who can't afford to get it wrong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63B5C"/>
                </a:solidFill>
                <a:latin typeface="Segoe UI"/>
              </a:rPr>
              <a:t>▸ </a:t>
            </a:r>
            <a:r>
              <a:rPr sz="1600">
                <a:solidFill>
                  <a:srgbClr val="F5F6FA"/>
                </a:solidFill>
                <a:latin typeface="Segoe UI"/>
              </a:rPr>
              <a:t>Plan: prove with 100 creators → grow product-led → land agencies on the tier built for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3B5"/>
                </a:solidFill>
                <a:latin typeface="Segoe UI"/>
              </a:rPr>
              <a:t>aicreatorforce.net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